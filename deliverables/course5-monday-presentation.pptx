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开场说明：今天讲的是“怎么做”的方案，还没有实验结果；以后所有结论都会来自我们自己跑出的数据。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这一页回答“进一步理解课题”：核心不是复现论文，而是做一次公平的工具比较。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核心难点是“公平”和“可复现”，这决定了后面所有设计。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口播稿见讲稿文档第 3 节，60-90 秒版本。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回应老师要求：空间数据是暂缓不是放弃，排在单细胞结论之后。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每一步都有检查点，上一步没通过就不进入下一步。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“留一物种”是评测设计的核心：避免“用同一批数据既当教练又当考题”。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前三类由同一个脚本统一计算，不允许各工具用各自的算法。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回应“时间不用太精确”：以检查点推进，不承诺具体小时数。具体限额数字记录在讲稿文档里。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完整命令清单在讲稿文档第 4 节；现场可以直接演示。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展示前把成员姓名补齐。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每条风险都已经留了证据或写好预案。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结尾回扣老师四项要求：课题理解、文献精读、可执行方案、小组分工均已覆盖。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83080"/>
            <a:ext cx="969264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7324D"/>
                </a:solidFill>
                <a:latin typeface="Microsoft YaHei"/>
              </a:rPr>
              <a:t>跨物种细胞类型整合工具评测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97480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47D73"/>
                </a:solidFill>
                <a:latin typeface="Microsoft YaHei"/>
              </a:rPr>
              <a:t>SATURN vs SAMap vs scVI ｜ 课题5 初步方案汇报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29000"/>
            <a:ext cx="10195560" cy="23591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组员：____、____、____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本次汇报：我们打算怎么做这件事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当前状态：方案已就绪，等课程数据入口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我们要回答的问题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要点：公平比较是课题的核心——同样的数据、同样的规则，只比工具本身。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017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背景：三个工具都能把不同物种的细胞“对齐”后比较，但各论文各用各的，没有公平对比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我们的课题：同一批数据、同一套规则，让 SATURN、SAMap、scVI 各跑一遍，按统一标准打分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产出：一张公平的对比表，告诉后来者“什么场景该用哪个工具”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原则：只认我们自己跑出来的数，论文数值和示例数据只能当参考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课题的四个关键点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53312"/>
          <a:ext cx="9966959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977639"/>
                <a:gridCol w="43891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要回答的问题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关键点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我们的做法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用什么数据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跨物种单细胞数据，带细胞类型标签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用课程提供的 HEART 心脏图谱，先拿 2-3 个物种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怎么算公平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三个工具吃同样的输入、同样的规则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统一细胞、基因、拆分方式和随机种子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怎么算好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既要把物种混匀，也要保住细胞类型差异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三个工具用同一组指标打分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别人能否照做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换个人也能跑出同样的结果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每步的输入、参数、结果都存档在仓库里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文献精读 ①：HEART 心脏跨物种图谱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要点：HEART 提供数据和“标准答案”；论文数字是作者的结果，不是我们的。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发表在 Science：构建了动物心脏的跨物种单细胞图谱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规模：27 个物种；其中 16 个物种、约 48 万个细胞做了整合分析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论文做法：用 SATURN 整合物种，用 SAMap 找跨物种对应的细胞类型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关键设置：蛋白质序列嵌入（ESM2B）+ 2000 个宏基因 + 8000 个高变基因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对我们的用处：提供数据来源和标签金标准；但论文结果不能当成我们的结论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文献精读 ②：LBSPA 七鳃鳗脑图谱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要点：LBSPA 用在最后——单细胞结论出来后，换个物种跨度再验证一次。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发表在 Science：七鳃鳗全脑图谱，同时有空间数据和单核数据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我们只用单核部分：约 4.2 万个高质量细胞核、209 种细胞簇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论文做过七鳃鳗-小鼠比较：约 6900 个一对一同源基因 + scVI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对我们的用处：单细胞实验做完后，用它做“换个物种跨度再试一次”的补充验证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空间数据暂不进主实验：数据模态不同，混在一起说不清是谁的影响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实验总体思路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298448" cy="530352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选数据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79675" y="1572768"/>
            <a:ext cx="100584" cy="164592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389888"/>
            <a:ext cx="1298448" cy="530352"/>
          </a:xfrm>
          <a:prstGeom prst="roundRect">
            <a:avLst>
              <a:gd name="adj" fmla="val 16000"/>
            </a:avLst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小试跑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4427" y="1572768"/>
            <a:ext cx="100584" cy="164592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47872" y="1389888"/>
            <a:ext cx="1298448" cy="530352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统一打分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69180" y="1572768"/>
            <a:ext cx="100584" cy="164592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92623" y="1389888"/>
            <a:ext cx="1298448" cy="530352"/>
          </a:xfrm>
          <a:prstGeom prst="roundRect">
            <a:avLst>
              <a:gd name="adj" fmla="val 16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扩场景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13931" y="1572768"/>
            <a:ext cx="100584" cy="164592"/>
          </a:xfrm>
          <a:prstGeom prst="rightArrow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37375" y="1389888"/>
            <a:ext cx="1298448" cy="530352"/>
          </a:xfrm>
          <a:prstGeom prst="roundRect">
            <a:avLst>
              <a:gd name="adj" fmla="val 16000"/>
            </a:avLst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写报告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4884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选数据：从课程数据里选 2-3 个物种的心脏细胞（心肌细胞、成纤维细胞两类）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小试跑：三个工具各跑通一次，只验证“能不能跑完”，不比名次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统一打分：同一套指标给三个工具打分，重复 3 次取平均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扩场景：加入近缘、远缘、不同类别物种组合，看工具表现怎么变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写报告：结果、耗时、花费、失败原因全部写进报告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怎么保证比较是公平的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要点：公平 = 同输入、同规则、考题分开、重复三次、全程留痕。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同一批细胞：三个工具用完全相同的输入，谁也不多给数据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同一张基因对照表：需要基因对应关系的工具，用同一份同源基因表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考试分开出题：轮流留出一个物种当“考题”，用其余物种训练后去猜它的细胞类型（留一物种法）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重复实验：同一实验用 3 个随机种子各跑一遍，报告平均和波动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全程留痕：每次运行的输入、参数、日志、结果都存档，事后可查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评分指标（每个都配了一句解释）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53312"/>
          <a:ext cx="9966959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977639"/>
                <a:gridCol w="43891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看什么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一句话解释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标签猜得准不准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被留出物种的细胞类型被猜对的程度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物种混得匀不匀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kBET、iLISI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整合之后不同物种的细胞是否混在一起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类型结构保得好不好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silhouette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整合时细胞类型之间的界限有没有被抹掉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跑得快不快、贵不贵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时间、内存、费用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每次运行的时间和花费都记账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下一步计划（按检查点推进，不卡死时间）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要点：三步走，每步全组过目；上一步不通过，就不进入下一步。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017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第一步（现在）：等老师提供课程数据入口，然后核对数据能读、字段齐全，核对软件环境——这些都不花钱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第二步（全组同意后）：小规模试跑一次，设好保险丝——单卡、限时到点即停、单次花费 10 元封顶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第三步（试跑顺利后）：正式实验、统一评分、写 Word 报告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每一步完成都全组过目；任何一步不通过，就不进入下一步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外组同学怎么接手（四步就能开始）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要点：四条命令就能开始；命令逐条有解释，无需任何背景知识。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1. 克隆仓库并装依赖：git clone + pip install -r requirements.txt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2. 跑测试确认环境正常：python -m unittest discover -s tests -v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3. 跑一遍示例流程，熟悉输出长什么样：python scripts/smoke_test.py --outdir smoke-output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500">
                <a:solidFill>
                  <a:srgbClr val="1D2731"/>
                </a:solidFill>
                <a:latin typeface="Microsoft YaHei"/>
              </a:rPr>
              <a:t>4. 按仓库里的检查清单（docs/minimal-verification-runbook.md）逐条做核对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每条命令的作用都写在文档里，不需要追问任何“隐藏背景”就能开始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分工与互相检查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53312"/>
          <a:ext cx="996696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468880"/>
                <a:gridCol w="4663440"/>
                <a:gridCol w="15544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成员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主线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具体负责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交叉检查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____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找数据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确认数据路径、物种、标签字段能读、含义清楚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____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管软件和算力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核对软件版本，控制时长和费用，记录每次运行环境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____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管评分和报告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统一评分脚本，整理结果表，写报告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8" y="4526280"/>
            <a:ext cx="10195560" cy="17007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主线可以轮换；每个人都要复核别人的一块交付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一条硬规矩：开机花钱的操作，必须全组同意后才执行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可能遇到的问题与对策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53312"/>
          <a:ext cx="99669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可能的问题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我们的对策</a:t>
                      </a:r>
                    </a:p>
                  </a:txBody>
                  <a:tcPr marL="64008" marR="64008" marT="27432" marB="27432" anchor="ctr"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课程数据还没拿到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已在平台全面排查并精确提问老师；回复前不花一分钱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软件环境对不上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进容器核对版本；缺工具只写安装方案，不偷偷装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试跑爆内存或超时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保存现场和日志，缩小数据规模再试，不加钱加卡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结果不可比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D2731"/>
                          </a:solidFill>
                          <a:latin typeface="Microsoft YaHei"/>
                        </a:rPr>
                        <a:t>输入、种子、版本全部提前写死并存档</a:t>
                      </a:r>
                    </a:p>
                  </a:txBody>
                  <a:tcPr marL="64008" marR="64008" marT="27432" marB="27432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18872" cy="530352"/>
          </a:xfrm>
          <a:prstGeom prst="rect">
            <a:avLst/>
          </a:prstGeom>
          <a:solidFill>
            <a:srgbClr val="147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324D"/>
                </a:solidFill>
                <a:latin typeface="Microsoft YaHei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12191695" cy="9144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32180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Microsoft YaHei"/>
              </a:rPr>
              <a:t>要点：方案就绪，等数据入口；花钱之前全组同意。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195560" cy="367588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方案已完整：数据、方法、评分、分工、费用上限全部明确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已完成：本地流程全部跑通；数据平台已排查两轮，问题已汇总给老师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等待中：课程数据入口——老师回复后即可进入试跑准备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纪律：开机花钱前必须全组同意，跑完立即关机</a:t>
            </a:r>
          </a:p>
          <a:p>
            <a:pPr>
              <a:lnSpc>
                <a:spcPct val="128000"/>
              </a:lnSpc>
              <a:spcAft>
                <a:spcPts val="1500"/>
              </a:spcAft>
            </a:pPr>
            <a:r>
              <a:rPr sz="1700">
                <a:solidFill>
                  <a:srgbClr val="1D2731"/>
                </a:solidFill>
                <a:latin typeface="Microsoft YaHei"/>
              </a:rPr>
              <a:t>谢谢大家，欢迎提问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515A66"/>
                </a:solidFill>
                <a:latin typeface="Microsoft YaHei"/>
              </a:rPr>
              <a:t>课题5 | 跨物种单细胞整合工具评测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15A6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