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开场说明：本次汇报的是可执行初步方案，不是工具结果排名。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强调当前是准备完成，不是实验完成；pending 是安全状态。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说明为什么不能直接复用论文结果：我们的任务是评测工具，不是复现一张论文图。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讲述时突出 HEART 为什么适合作为主数据，以及 accession 与平台路径的区别。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老师已明确空间数据暂不做；LBSPA 不是被放弃，而是后置。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物种名保持 pending，等页面证据；首轮 pilot 不做工具排名。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正式结果禁止使用本地 smoke test 的 kBET 代理。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R0-R4 均不消耗云资源；R5 前必须通过 startup_preflight。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这一页回应老师要求：非本课题同学拿到方案也能直接开始操作。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4090x2 只作为单卡内存不足后的例外，需要新证据和组内批准。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展示前把成员姓名补齐。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风险应对的核心是留证据，而不是临时改参数。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结尾回到老师要求：理解课题、精读文献、可执行方案和小组分工均已覆盖。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783080"/>
            <a:ext cx="969264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3400" b="1">
                <a:solidFill>
                  <a:srgbClr val="17324D"/>
                </a:solidFill>
                <a:latin typeface="Microsoft YaHei"/>
              </a:rPr>
              <a:t>跨物种细胞类型整合工具评测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896112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>
                <a:solidFill>
                  <a:srgbClr val="147D73"/>
                </a:solidFill>
                <a:latin typeface="Microsoft YaHei"/>
              </a:rPr>
              <a:t>SATURN vs SAMap vs scVI 系 | 课题5初步方案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429000"/>
            <a:ext cx="10195560" cy="1975103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组员：____、____、____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课程阶段：下节课前方案汇报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当前状态：G0 本地基线通过；G1/G2 只读排查完成，等待课程数据入口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一页结论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53312"/>
            <a:ext cx="10195560" cy="4096511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目标：做可审计的跨物种单细胞整合基准评测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路径：HEART 2-3 物种先打通流程，再扩展近缘/远缘/混合场景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后置：LBSPA 七鳃鳗-小鼠 snRNA 只做单细胞主结论后的补充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已完成：本地基线全绿；DCS 两区域只读排查完成（课程数据 0 命中）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阻塞项：课程数据入口待老师回复；实例内版本与正式 kBET 待开实例核验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镜像候选：SATURN--22/--21 页面同栈；平台无预置 kBET 镜像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纪律：启动门未通过前，不创建实例、不上传数据、不安装包、不提交任务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课题理解：四层拆解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53312"/>
          <a:ext cx="9966959" cy="2706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3977639"/>
                <a:gridCol w="43891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层次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核心问题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当前设计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数据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用哪些物种、细胞和标签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HEART pilot；后续覆盖近缘、远缘、混合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方法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如何公平比较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相同输入、拆分、同源规则、随机种子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评价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什么算好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macro-F1、kBET、iLISI、silhouette、资源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复现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别人能否接手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manifest、参数、版本、日志、指标、资源文件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文献精读：HEART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53312"/>
            <a:ext cx="10195560" cy="3566159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论文：Science，DOI 10.1126/science.adw0855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27 个物种多组学；scRNA-seq 14 物种、399,483 细胞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保守性分析：SATURN 整合 16 物种、479,483 细胞；SAMap 做映射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关键设置：ESM2B 蛋白嵌入、2,000 macrogenes、8,000 HVGs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数据线索：CNGB CNP0006537；accession 不是 DCS 挂载路径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对本课题：提供标签和物种范围，但不能替代小组统一评测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文献精读：LBSPA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53312"/>
            <a:ext cx="10195560" cy="3566159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论文：Science，DOI 10.1126/science.aea2535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七鳃鳗全脑 Stereo-seq：465,778 空间细胞、约 200 万估计细胞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单核数据：41,678 个高质量 snRNA、209 个细胞簇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七鳃鳗-小鼠比较：6,930 个一对一同源基因；scVI + Harmony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对本课题：snRNA 作为跨门类后置补充；空间数据暂不进入主实验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理由：避免同时混淆物种距离、模态差异和标签体系差异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数据与场景设计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53312"/>
          <a:ext cx="9966959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3977639"/>
                <a:gridCol w="43891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场景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数据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目的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流程试跑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HEART 2-3 物种 CM/FB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验证端到端闭环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近缘组合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待 DCS 核实物种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检验保守细胞类型标签转移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远缘组合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待 DCS 核实物种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检验跨大距离整合能力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混合类别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待 DCS 核实物种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检验类型结构差异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LBSPA 补充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七鳃鳗-小鼠 snRNA 小子集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主结论后做稳健性补充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统一评测协议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53312"/>
            <a:ext cx="10195560" cy="3566159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相同输入：同一批细胞、QC 规则、标签字段和同源基因规则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评估方式：留一物种标签转移，报告每折与聚合 macro-F1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随机种子：7、17、27；报告均值、标准差和失败折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指标：macro-F1、正式 kBET、iLISI、silhouette、时间和峰值内存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诊断：同时看批次混合、生物保守性和物种过度混合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Agent 友好度：文档、CLI/API、参数、输出、失败诊断、复现六项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执行路线：R0-R6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1298448" cy="530352"/>
          </a:xfrm>
          <a:prstGeom prst="roundRect">
            <a:avLst>
              <a:gd name="adj" fmla="val 16000"/>
            </a:avLst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R0 认领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79675" y="1572768"/>
            <a:ext cx="100584" cy="164592"/>
          </a:xfrm>
          <a:prstGeom prst="rightArrow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03120" y="1389888"/>
            <a:ext cx="1298448" cy="530352"/>
          </a:xfrm>
          <a:prstGeom prst="roundRect">
            <a:avLst>
              <a:gd name="adj" fmla="val 16000"/>
            </a:avLst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R1 本地基线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424427" y="1572768"/>
            <a:ext cx="100584" cy="164592"/>
          </a:xfrm>
          <a:prstGeom prst="rightArrow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47872" y="1389888"/>
            <a:ext cx="1298448" cy="530352"/>
          </a:xfrm>
          <a:prstGeom prst="roundRect">
            <a:avLst>
              <a:gd name="adj" fmla="val 16000"/>
            </a:avLst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R2 只读证据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69180" y="1572768"/>
            <a:ext cx="100584" cy="164592"/>
          </a:xfrm>
          <a:prstGeom prst="rightArrow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92623" y="1389888"/>
            <a:ext cx="1298448" cy="530352"/>
          </a:xfrm>
          <a:prstGeom prst="roundRect">
            <a:avLst>
              <a:gd name="adj" fmla="val 16000"/>
            </a:avLst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R3 交叉复核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313931" y="1572768"/>
            <a:ext cx="100584" cy="164592"/>
          </a:xfrm>
          <a:prstGeom prst="rightArrow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37375" y="1389888"/>
            <a:ext cx="1298448" cy="530352"/>
          </a:xfrm>
          <a:prstGeom prst="roundRect">
            <a:avLst>
              <a:gd name="adj" fmla="val 16000"/>
            </a:avLst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R4 启动门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58683" y="1572768"/>
            <a:ext cx="100584" cy="164592"/>
          </a:xfrm>
          <a:prstGeom prst="rightArrow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82127" y="1389888"/>
            <a:ext cx="1298448" cy="530352"/>
          </a:xfrm>
          <a:prstGeom prst="roundRect">
            <a:avLst>
              <a:gd name="adj" fmla="val 16000"/>
            </a:avLst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R5 pilot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03436" y="1572768"/>
            <a:ext cx="100584" cy="164592"/>
          </a:xfrm>
          <a:prstGeom prst="rightArrow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26880" y="1389888"/>
            <a:ext cx="1298448" cy="530352"/>
          </a:xfrm>
          <a:prstGeom prst="roundRect">
            <a:avLst>
              <a:gd name="adj" fmla="val 16000"/>
            </a:avLst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R6 正式报告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148840"/>
            <a:ext cx="10195560" cy="303580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R0：2-4 小时，完成认领和证据清单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R1：24 小时，每人提交 draft PR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R2：24-36 小时，补 G1/G2 只读证据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R3/R4：互审、补齐启动门并取得三人批准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R5：单次 25 分钟硬停止；R6：正式场景与 Word 报告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接手操作卡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53312"/>
            <a:ext cx="10195560" cy="4096511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1. clone 仓库，从 main 创建短分支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2. pip install -r requirements.txt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3. unittest discover -s tests -v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4. smoke_test.py --outdir smoke-output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1D2731"/>
                </a:solidFill>
                <a:latin typeface="Microsoft YaHei"/>
              </a:rPr>
              <a:t>5. plan_contract.py / budget_check.py --profile 4090x1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6. startup_preflight.py：证据未齐时退出码 2 是安全阻塞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7. A 查数据字段；B 查镜像版本；C 维护指标和 artifact 契约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启动门与预算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53312"/>
          <a:ext cx="996695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3977639"/>
                <a:gridCol w="43891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控制项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规则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证据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云动作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G3 前禁止创建/上传/安装/提交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startup-preflight.json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硬件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默认 4090x1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dcs-budget-plan.json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pilot 25 分钟硬停止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resource_usage.json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内存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75 GB 峰值停止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resource_usage.json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成本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单次 ¥10 上限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budget_check.py 输出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实例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任务结束立即停止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运行台账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分工与交叉复核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53312"/>
          <a:ext cx="996696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468880"/>
                <a:gridCol w="4663440"/>
                <a:gridCol w="155448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成员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主线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当前小交付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复核人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____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A 数据与生物学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路径、字段、物种、标签、同源基因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____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B 环境与算力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镜像、版本、GPU、预算、停止规则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____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C 评测与报告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指标、留一物种、artifact、报告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8" y="4526280"/>
            <a:ext cx="10195560" cy="1444751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主线可轮换；主责是推进人，不是审批人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每次 PR 写清：改了什么、输入、验证方式、是否触碰 DCS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风险与应对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53312"/>
          <a:ext cx="9966960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风险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应对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DCS 数据入口缺失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两区域排查已留证据；已向老师提交精确问题，等待回复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镜像版本冲突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实例内只读 import/which/version，不按页面猜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OOM 或超时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保存失败 artifact，缩小物种/细胞/时间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指标不可比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统一输入、拆分、种子、版本和资源记录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把论文结果当结论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结论只引用本组运行 artifact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结论与下一步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53312"/>
            <a:ext cx="10195560" cy="303580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方案已达到可交接标准：数据、方法、指标、预算、分工和停止线明确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下一步：老师回复入口后补 G1（路径/字段/物种），再开实例补 G2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G1/G2 通过后提交启动门审查，申请 4090x1 最小 pilot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pilot 只验证流程；正式排名留给近缘/远缘/混合场景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最终交付基准报告、场景化选型指南和 Word 结题报告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